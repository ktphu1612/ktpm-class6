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cả lớp. Nhóm A1 trình bày về kiểm thử tự động, kiến trúc Appium và demo 3 test case Đăng nhập trên Swag Labs. Thời lượng 7 phút trình bày và 3 phút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Kiểm thử tự động là dùng script điều khiển app và so sánh kết quả. Không phải màn hình nào cũng cần UI test; theo test pyramid, UI/E2E chỉ dành cho luồng quan trọng.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cách: record/playback, viết code, low-code. Nhóm chọn script-based vì cần kiểm soát, tái sử dụng và chạy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Sơ đồ do nhóm tự vẽ. Client gửi lệnh HTTP tới Appium server, server chuyển cho UiAutomator2 driver, driver dùng ADB/instrumentation để điều khiển thiết bị. Hiểu đường đi này giúp khoanh vùng lỗi.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 qua từng bước của một lệnh tìm phần tử: client, server, driver, ADB, thiết bị và kết quả trả về. Đây là nền tảng để debug khi test fail.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3 test case: đăng nhập đúng vào PRODUCTS, tài khoản bị khoá, bỏ trống mật khẩu. Tất cả 3/3 PASSED trong khoảng 46 giây. Lưu ý khung lỗi là ViewGroup, phải lấy TextView con.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ảnh chụp thật từ emulator. Bài học: accessibility id ổn định, dùng WebDriverWait, đọc đúng cây giao diện, phân biệt lỗi môi trường và lỗi test, dọn trạng thái trước mỗi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3 điều: biết lỗi ở tầng nào, chọn locator ổn định, chờ đúng điều kiện. Tuần 7 nhóm làm chức năng sắp xếp sản phẩm. Cảm ơn và mời đặt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669280" cy="566928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4480560"/>
            <a:ext cx="4023360" cy="4023360"/>
          </a:xfrm>
          <a:prstGeom prst="ellipse">
            <a:avLst/>
          </a:prstGeom>
          <a:solidFill>
            <a:srgbClr val="F2A93B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932688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7EE0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8755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spc="120" kern="0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TUẦN 6 · TRÌNH BÀY VÒNG 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17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76272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ĐỘNG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C9D7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quan, kiến trúc </a:t>
            </a:r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Appium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C9D7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và demo bộ test </a:t>
            </a:r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C9D7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trên ứng dụng Android </a:t>
            </a:r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Swag Labs.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058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120" kern="0" dirty="0">
                <a:solidFill>
                  <a:srgbClr val="7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879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 · KTPM Class 6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5705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spc="120" kern="0" dirty="0">
                <a:solidFill>
                  <a:srgbClr val="7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5879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Appium 2 · UiAutomator2 · Python · pytest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13648" y="786384"/>
            <a:ext cx="2121408" cy="4443984"/>
          </a:xfrm>
          <a:prstGeom prst="roundRect">
            <a:avLst>
              <a:gd name="adj" fmla="val 12931"/>
            </a:avLst>
          </a:prstGeom>
          <a:solidFill>
            <a:srgbClr val="163B58"/>
          </a:solidFill>
          <a:ln w="12700">
            <a:solidFill>
              <a:srgbClr val="163B58"/>
            </a:solidFill>
            <a:prstDash val="solid"/>
          </a:ln>
          <a:effectLst>
            <a:outerShdw sx="100000" sy="100000" kx="0" ky="0" algn="bl" rotWithShape="0" blurRad="50800" dist="12700" dir="5400000">
              <a:srgbClr val="0F2742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59952" y="960120"/>
            <a:ext cx="1828800" cy="409651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59952" y="960120"/>
            <a:ext cx="1828800" cy="347472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42832" y="1481328"/>
            <a:ext cx="1463040" cy="82296"/>
          </a:xfrm>
          <a:prstGeom prst="roundRect">
            <a:avLst>
              <a:gd name="adj" fmla="val 44444"/>
            </a:avLst>
          </a:prstGeom>
          <a:solidFill>
            <a:srgbClr val="D8E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42832" y="1691640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5D4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42832" y="2011680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5D4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42832" y="2331720"/>
            <a:ext cx="1463040" cy="22860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42832" y="2761488"/>
            <a:ext cx="1234440" cy="73152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2832" y="2926080"/>
            <a:ext cx="1005840" cy="73152"/>
          </a:xfrm>
          <a:prstGeom prst="roundRect">
            <a:avLst>
              <a:gd name="adj" fmla="val 50000"/>
            </a:avLst>
          </a:prstGeom>
          <a:solidFill>
            <a:srgbClr val="D8E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913632"/>
            <a:ext cx="4160520" cy="2148840"/>
          </a:xfrm>
          <a:prstGeom prst="roundRect">
            <a:avLst>
              <a:gd name="adj" fmla="val 4681"/>
            </a:avLst>
          </a:prstGeom>
          <a:solidFill>
            <a:srgbClr val="091929"/>
          </a:solidFill>
          <a:ln w="12700">
            <a:solidFill>
              <a:srgbClr val="2D5A75"/>
            </a:solidFill>
            <a:prstDash val="solid"/>
          </a:ln>
          <a:effectLst>
            <a:outerShdw sx="100000" sy="100000" kx="0" ky="0" algn="bl" rotWithShape="0" blurRad="50800" dist="12700" dir="5400000">
              <a:srgbClr val="0F2742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4078224"/>
            <a:ext cx="73152" cy="7315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44384" y="4078224"/>
            <a:ext cx="73152" cy="73152"/>
          </a:xfrm>
          <a:prstGeom prst="ellipse">
            <a:avLst/>
          </a:prstGeom>
          <a:solidFill>
            <a:srgbClr val="7EE0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90688" y="4078224"/>
            <a:ext cx="73152" cy="73152"/>
          </a:xfrm>
          <a:prstGeom prst="ellipse">
            <a:avLst/>
          </a:prstGeom>
          <a:solidFill>
            <a:srgbClr val="3352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79792" y="4242816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F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= webdriver.Remote(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F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APPIUM_SERVER, options=options)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F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= WebDriverWait(driver, 30).until(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F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EC.visibility_of_element_located((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F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AppiumBy.ACCESSIBILITY_ID,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F6C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"test-Username")))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FE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o.send_keys("standard_user")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2541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4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KHÁI NIỆM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 tự động là gì?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658368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1298448"/>
            <a:ext cx="10945368" cy="859536"/>
          </a:xfrm>
          <a:prstGeom prst="roundRect">
            <a:avLst>
              <a:gd name="adj" fmla="val 10638"/>
            </a:avLst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371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417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DB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Dùng </a:t>
            </a:r>
            <a:pPr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và script</a:t>
            </a:r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DB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điều khiển ứng dụng, thực hiện các bước kiểm thử và </a:t>
            </a:r>
            <a:pPr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 kết quả thực tế</a:t>
            </a:r>
            <a:pPr indent="0" marL="0">
              <a:lnSpc>
                <a:spcPct val="110000"/>
              </a:lnSpc>
              <a:buNone/>
            </a:pPr>
            <a:r>
              <a:rPr lang="en-US" sz="1320" dirty="0">
                <a:solidFill>
                  <a:srgbClr val="DB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với kết quả mong đợi — không cần thao tác tay từng lần.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21792" y="239572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6F9FC"/>
          </a:solidFill>
          <a:ln w="9525">
            <a:solidFill>
              <a:srgbClr val="DFE8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395728"/>
            <a:ext cx="3502152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578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Vì sao nên dùng?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429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lặp lại mỗi khi code thay đổi.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hồi quy nhanh, ít bỏ sót.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nhiều thiết bị / môi trường.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hiện lỗi sớm, tiết kiệm thời gian.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43400" y="239572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6F9FC"/>
          </a:solidFill>
          <a:ln w="9525">
            <a:solidFill>
              <a:srgbClr val="DF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395728"/>
            <a:ext cx="3502152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62856" y="2578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D68A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Khi nào không nên?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3429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thay đổi liên tục.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Dự án ngắn, chỉ chạy một lần.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đánh giá cảm quan / thẩm mỹ.</a:t>
            </a:r>
            <a:endParaRPr lang="en-US" sz="108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phí bảo trì lớn hơn giá trị.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065008" y="2395728"/>
            <a:ext cx="3502152" cy="2331720"/>
          </a:xfrm>
          <a:prstGeom prst="roundRect">
            <a:avLst>
              <a:gd name="adj" fmla="val 3529"/>
            </a:avLst>
          </a:prstGeom>
          <a:solidFill>
            <a:srgbClr val="F6F9FC"/>
          </a:solidFill>
          <a:ln w="9525">
            <a:solidFill>
              <a:srgbClr val="DFE8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65008" y="2395728"/>
            <a:ext cx="3502152" cy="45720"/>
          </a:xfrm>
          <a:prstGeom prst="rect">
            <a:avLst/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84464" y="2578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500" dirty="0"/>
          </a:p>
        </p:txBody>
      </p:sp>
      <p:sp>
        <p:nvSpPr>
          <p:cNvPr id="24" name="Text 22"/>
          <p:cNvSpPr txBox="1"/>
          <p:nvPr/>
        </p:nvSpPr>
        <p:spPr>
          <a:xfrm>
            <a:off x="8284464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Đừng chỉ nhìn UI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8284464" y="34290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 giao diện nên </a:t>
            </a:r>
            <a:pPr indent="0" marL="0">
              <a:lnSpc>
                <a:spcPct val="122000"/>
              </a:lnSpc>
              <a:buNone/>
            </a:pPr>
            <a:r>
              <a:rPr lang="en-US" sz="108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ít và có chọn lọc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ưu tiên các luồng quan trọng nhất. Phần logic nên kiểm tra ở tầng unit / integration.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21792" y="5047488"/>
            <a:ext cx="2514600" cy="310896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51023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· nhiều, nhanh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73836" y="5394960"/>
            <a:ext cx="1810512" cy="310896"/>
          </a:xfrm>
          <a:prstGeom prst="rect">
            <a:avLst/>
          </a:prstGeom>
          <a:solidFill>
            <a:srgbClr val="4A9AA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3836" y="54498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· vừa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298448" y="5742432"/>
            <a:ext cx="1161288" cy="310896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98448" y="5797296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4B3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/ E2E · ít, chậm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54406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pyramid: </a:t>
            </a:r>
            <a:pPr indent="0" marL="0">
              <a:buNone/>
            </a:pPr>
            <a:r>
              <a:rPr lang="en-US" sz="10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càng lên cao càng chậm, đắt và dễ hỏng — nên dùng cho các luồng người dùng quan trọng, không phải mọi màn hình.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4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CÁCH TIẾP CẬN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cách làm phổ biến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658368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173736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F6F9FC"/>
          </a:solidFill>
          <a:ln w="9525">
            <a:solidFill>
              <a:srgbClr val="DFE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737360"/>
            <a:ext cx="3502152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938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spc="10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&amp; PLAYBACK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194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và phát lại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651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nhanh, không cần code, dễ bắt đầu.</a:t>
            </a:r>
            <a:endParaRPr lang="en-US" sz="106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3101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Nhược: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dễ vỡ khi UI đổi, khó tái sử dụng, khó chạy CI.</a:t>
            </a:r>
            <a:endParaRPr lang="en-US" sz="106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96849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Phù hợp: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thử, kiểm tra nhanh một luồng.</a:t>
            </a:r>
            <a:endParaRPr lang="en-US" sz="106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681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 dụ: Selenium IDE.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173736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F6F9FC"/>
          </a:solidFill>
          <a:ln w="9525">
            <a:solidFill>
              <a:srgbClr val="DF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737360"/>
            <a:ext cx="3502152" cy="45720"/>
          </a:xfrm>
          <a:prstGeom prst="rect">
            <a:avLst/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62856" y="1938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spc="10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SCRIPT-BASED</a:t>
            </a:r>
            <a:endParaRPr lang="en-US" sz="820" dirty="0"/>
          </a:p>
        </p:txBody>
      </p:sp>
      <p:sp>
        <p:nvSpPr>
          <p:cNvPr id="19" name="Text 17"/>
          <p:cNvSpPr txBox="1"/>
          <p:nvPr/>
        </p:nvSpPr>
        <p:spPr>
          <a:xfrm>
            <a:off x="4562856" y="2194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bằng code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2651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soát hoàn toàn, tái sử dụng, dễ bảo trì, chạy CI.</a:t>
            </a:r>
            <a:endParaRPr lang="en-US" sz="1060" dirty="0"/>
          </a:p>
        </p:txBody>
      </p:sp>
      <p:sp>
        <p:nvSpPr>
          <p:cNvPr id="21" name="Text 19"/>
          <p:cNvSpPr txBox="1"/>
          <p:nvPr/>
        </p:nvSpPr>
        <p:spPr>
          <a:xfrm>
            <a:off x="4562856" y="33101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Nhược: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biết lập trình, tốn thời gian ban đầu.</a:t>
            </a:r>
            <a:endParaRPr lang="en-US" sz="106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396849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Phù hợp: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dự án dài, cần bộ test ổn định.</a:t>
            </a:r>
            <a:endParaRPr lang="en-US" sz="106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681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 dụ: Selenium / Appium + pytest.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5008" y="173736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F6F9FC"/>
          </a:solidFill>
          <a:ln w="9525">
            <a:solidFill>
              <a:srgbClr val="DFE8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1737360"/>
            <a:ext cx="3502152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1938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spc="10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LOW-CODE / NO-CODE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2194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trực quan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26517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dễ dùng cho người không chuyên, có sẵn dashboard.</a:t>
            </a:r>
            <a:endParaRPr lang="en-US" sz="1060" dirty="0"/>
          </a:p>
        </p:txBody>
      </p:sp>
      <p:sp>
        <p:nvSpPr>
          <p:cNvPr id="29" name="Text 27"/>
          <p:cNvSpPr txBox="1"/>
          <p:nvPr/>
        </p:nvSpPr>
        <p:spPr>
          <a:xfrm>
            <a:off x="8284464" y="33101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Nhược: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phụ thuộc nhà cung cấp, khó tùy biến sâu.</a:t>
            </a:r>
            <a:endParaRPr lang="en-US" sz="106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396849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Phù hợp: </a:t>
            </a:r>
            <a:pPr indent="0" marL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nhỏ, nhu cầu đơn giản.</a:t>
            </a:r>
            <a:endParaRPr lang="en-US" sz="1060" dirty="0"/>
          </a:p>
        </p:txBody>
      </p:sp>
      <p:sp>
        <p:nvSpPr>
          <p:cNvPr id="31" name="Text 29"/>
          <p:cNvSpPr txBox="1"/>
          <p:nvPr/>
        </p:nvSpPr>
        <p:spPr>
          <a:xfrm>
            <a:off x="8284464" y="4681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 dụ: Katalon, TestProject.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" y="5212080"/>
            <a:ext cx="10945368" cy="868680"/>
          </a:xfrm>
          <a:prstGeom prst="roundRect">
            <a:avLst>
              <a:gd name="adj" fmla="val 8421"/>
            </a:avLst>
          </a:prstGeom>
          <a:solidFill>
            <a:srgbClr val="EEF8F8"/>
          </a:solidFill>
          <a:ln w="9525">
            <a:solidFill>
              <a:srgbClr val="B9DF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5212080"/>
            <a:ext cx="54864" cy="868680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54406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1248" y="5431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532180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2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chọn Script-based: </a:t>
            </a:r>
            <a:pPr indent="0" marL="0">
              <a:lnSpc>
                <a:spcPct val="112000"/>
              </a:lnSpc>
              <a:buNone/>
            </a:pPr>
            <a:r>
              <a:rPr lang="en-US" sz="1120" dirty="0">
                <a:solidFill>
                  <a:srgbClr val="335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+ pytest + Appium 2. Vì cần hiểu sâu cách hoạt động, dễ tách hàm dùng chung, chạy được toàn bộ bộ test bằng một lệnh và sẵn sàng tích hợp CI ở các tuần sau.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4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KIẾN TRÚC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lệnh Appium đi từ đâu tới đâu?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658368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1280160"/>
            <a:ext cx="10945368" cy="3977640"/>
          </a:xfrm>
          <a:prstGeom prst="roundRect">
            <a:avLst>
              <a:gd name="adj" fmla="val 2759"/>
            </a:avLst>
          </a:prstGeom>
          <a:solidFill>
            <a:srgbClr val="F8FBFD"/>
          </a:solidFill>
          <a:ln w="9525">
            <a:solidFill>
              <a:srgbClr val="D9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417320"/>
            <a:ext cx="7406640" cy="3639312"/>
          </a:xfrm>
          <a:prstGeom prst="roundRect">
            <a:avLst>
              <a:gd name="adj" fmla="val 3518"/>
            </a:avLst>
          </a:prstGeom>
          <a:solidFill>
            <a:srgbClr val="F4F9FC"/>
          </a:solidFill>
          <a:ln w="12700">
            <a:solidFill>
              <a:srgbClr val="B9CDD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275320" y="1417320"/>
            <a:ext cx="3154680" cy="3639312"/>
          </a:xfrm>
          <a:prstGeom prst="roundRect">
            <a:avLst>
              <a:gd name="adj" fmla="val 4058"/>
            </a:avLst>
          </a:prstGeom>
          <a:solidFill>
            <a:srgbClr val="FFF9EE"/>
          </a:solidFill>
          <a:ln w="12700">
            <a:solidFill>
              <a:srgbClr val="E7C98A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96112" y="1481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MÁY TÍNH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847088" y="1490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+ server + driver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spc="120" kern="0" dirty="0">
                <a:solidFill>
                  <a:srgbClr val="B879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BỊ ANDROID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1847088"/>
            <a:ext cx="1325880" cy="157276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FDDE9"/>
            </a:solidFill>
            <a:prstDash val="solid"/>
          </a:ln>
          <a:effectLst>
            <a:outerShdw sx="100000" sy="100000" kx="0" ky="0" algn="bl" rotWithShape="0" blurRad="50800" dist="12700" dir="5400000">
              <a:srgbClr val="0F2742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6172" y="1956816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617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3591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client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05256" y="2615184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pytest + Appium</a:t>
            </a:r>
            <a:endParaRPr lang="en-US" sz="88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sinh lệnh W3C</a:t>
            </a:r>
            <a:endParaRPr lang="en-US" sz="88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qua HTTP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468880" y="1847088"/>
            <a:ext cx="1325880" cy="157276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FDDE9"/>
            </a:solidFill>
            <a:prstDash val="solid"/>
          </a:ln>
          <a:effectLst>
            <a:outerShdw sx="100000" sy="100000" kx="0" ky="0" algn="bl" rotWithShape="0" blurRad="50800" dist="12700" dir="5400000">
              <a:srgbClr val="0F2742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76372" y="1956816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7637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514600" y="23591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Appium Server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505456" y="2615184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4723</a:t>
            </a:r>
            <a:endParaRPr lang="en-US" sz="88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nhận REST / W3C</a:t>
            </a:r>
            <a:endParaRPr lang="en-US" sz="88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driver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069080" y="1847088"/>
            <a:ext cx="1417320" cy="157276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FDDE9"/>
            </a:solidFill>
            <a:prstDash val="solid"/>
          </a:ln>
          <a:effectLst>
            <a:outerShdw sx="100000" sy="100000" kx="0" ky="0" algn="bl" rotWithShape="0" blurRad="50800" dist="12700" dir="5400000">
              <a:srgbClr val="0F274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2292" y="1956816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2229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235915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UiAutomator2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105656" y="2615184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dịch lệnh</a:t>
            </a:r>
            <a:endParaRPr lang="en-US" sz="11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session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89320" y="1847088"/>
            <a:ext cx="1417320" cy="157276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CFDDE9"/>
            </a:solidFill>
            <a:prstDash val="solid"/>
          </a:ln>
          <a:effectLst>
            <a:outerShdw sx="100000" sy="100000" kx="0" ky="0" algn="bl" rotWithShape="0" blurRad="50800" dist="12700" dir="5400000">
              <a:srgbClr val="0F2742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42532" y="1956816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42532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235915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ADB + device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025896" y="2615184"/>
            <a:ext cx="1344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instrumentation</a:t>
            </a:r>
            <a:endParaRPr lang="en-US" sz="88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cầu nối thiết bị</a:t>
            </a:r>
            <a:endParaRPr lang="en-US" sz="88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lệnh / nhận UI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8430768" y="1847088"/>
            <a:ext cx="28346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C17A"/>
            </a:solidFill>
            <a:prstDash val="solid"/>
          </a:ln>
          <a:effectLst>
            <a:outerShdw sx="100000" sy="100000" kx="0" ky="0" algn="bl" rotWithShape="0" blurRad="50800" dist="12700" dir="5400000">
              <a:srgbClr val="0F2742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619488" y="1956816"/>
            <a:ext cx="128016" cy="36576"/>
          </a:xfrm>
          <a:prstGeom prst="rect">
            <a:avLst/>
          </a:prstGeom>
          <a:solidFill>
            <a:srgbClr val="D8E0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03920" y="2084832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+ Swag Labs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235915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emulator-5554 / thiết bị thật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668512" y="2651760"/>
            <a:ext cx="2359152" cy="457200"/>
          </a:xfrm>
          <a:prstGeom prst="roundRect">
            <a:avLst>
              <a:gd name="adj" fmla="val 12000"/>
            </a:avLst>
          </a:prstGeom>
          <a:solidFill>
            <a:srgbClr val="F2F8FB"/>
          </a:solidFill>
          <a:ln w="9525">
            <a:solidFill>
              <a:srgbClr val="D5E4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68512" y="270662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F5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UiAutomator2 server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668512" y="286207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F5A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(instrumentation trên máy)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668512" y="3227832"/>
            <a:ext cx="2359152" cy="457200"/>
          </a:xfrm>
          <a:prstGeom prst="roundRect">
            <a:avLst>
              <a:gd name="adj" fmla="val 12000"/>
            </a:avLst>
          </a:prstGeom>
          <a:solidFill>
            <a:srgbClr val="FFF4DD"/>
          </a:solidFill>
          <a:ln w="9525">
            <a:solidFill>
              <a:srgbClr val="E8CC9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68512" y="3282696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5A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Ứng dụng Swag Labs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668512" y="343814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8A5A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com.swaglabsmobileapp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2194560" y="2633472"/>
            <a:ext cx="2743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2194560" y="2450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94760" y="2633472"/>
            <a:ext cx="2743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794760" y="245059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0" y="2633472"/>
            <a:ext cx="50292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5486400" y="24505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ADB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06640" y="2633472"/>
            <a:ext cx="1024128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406640" y="245059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848088" y="3858768"/>
            <a:ext cx="0" cy="4572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8AA2B7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508760" y="4315968"/>
            <a:ext cx="8339328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8AA2B7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508760" y="3419856"/>
            <a:ext cx="0" cy="896112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8AA2B7"/>
            </a:solidFill>
            <a:prstDash val="dash"/>
            <a:headEnd type="triangle"/>
          </a:ln>
        </p:spPr>
      </p:sp>
      <p:sp>
        <p:nvSpPr>
          <p:cNvPr id="55" name="Text 53"/>
          <p:cNvSpPr txBox="1"/>
          <p:nvPr/>
        </p:nvSpPr>
        <p:spPr>
          <a:xfrm>
            <a:off x="3931920" y="4142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5F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trả về: element id · text · trạng thái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21792" y="541324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" y="5413248"/>
            <a:ext cx="45720" cy="658368"/>
          </a:xfrm>
          <a:prstGeom prst="rect">
            <a:avLst/>
          </a:prstGeom>
          <a:solidFill>
            <a:srgbClr val="C05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49808" y="54772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refused</a:t>
            </a:r>
            <a:endParaRPr lang="en-US" sz="940" dirty="0"/>
          </a:p>
        </p:txBody>
      </p:sp>
      <p:sp>
        <p:nvSpPr>
          <p:cNvPr id="59" name="Text 57"/>
          <p:cNvSpPr txBox="1"/>
          <p:nvPr/>
        </p:nvSpPr>
        <p:spPr>
          <a:xfrm>
            <a:off x="749808" y="5669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A5F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Appium server chưa chạy / sai cổng 4723.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3383280" y="541324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83280" y="5413248"/>
            <a:ext cx="45720" cy="658368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511296" y="54772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not found</a:t>
            </a:r>
            <a:endParaRPr lang="en-US" sz="940" dirty="0"/>
          </a:p>
        </p:txBody>
      </p:sp>
      <p:sp>
        <p:nvSpPr>
          <p:cNvPr id="63" name="Text 61"/>
          <p:cNvSpPr txBox="1"/>
          <p:nvPr/>
        </p:nvSpPr>
        <p:spPr>
          <a:xfrm>
            <a:off x="3511296" y="5669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A5F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Emulator chưa mở hoặc ADB không thấy thiết bị.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6144768" y="541324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44768" y="5413248"/>
            <a:ext cx="45720" cy="658368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272784" y="54772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 not found</a:t>
            </a:r>
            <a:endParaRPr lang="en-US" sz="940" dirty="0"/>
          </a:p>
        </p:txBody>
      </p:sp>
      <p:sp>
        <p:nvSpPr>
          <p:cNvPr id="67" name="Text 65"/>
          <p:cNvSpPr txBox="1"/>
          <p:nvPr/>
        </p:nvSpPr>
        <p:spPr>
          <a:xfrm>
            <a:off x="6272784" y="5669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A5F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 locator hoặc chưa chờ đủ lâu.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8906256" y="541324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7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06256" y="5413248"/>
            <a:ext cx="45720" cy="658368"/>
          </a:xfrm>
          <a:prstGeom prst="rect">
            <a:avLst/>
          </a:prstGeom>
          <a:solidFill>
            <a:srgbClr val="C050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034272" y="54772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not installed</a:t>
            </a:r>
            <a:endParaRPr lang="en-US" sz="940" dirty="0"/>
          </a:p>
        </p:txBody>
      </p:sp>
      <p:sp>
        <p:nvSpPr>
          <p:cNvPr id="71" name="Text 69"/>
          <p:cNvSpPr txBox="1"/>
          <p:nvPr/>
        </p:nvSpPr>
        <p:spPr>
          <a:xfrm>
            <a:off x="9034272" y="5669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A5F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 package hoặc chưa cài APK.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4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GIẢI PHẪU MỘT LỆNH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Tìm ô đăng nhập: chuyện gì xảy ra?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658368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1298448"/>
            <a:ext cx="5074920" cy="4297680"/>
          </a:xfrm>
          <a:prstGeom prst="roundRect">
            <a:avLst>
              <a:gd name="adj" fmla="val 2553"/>
            </a:avLst>
          </a:prstGeom>
          <a:solidFill>
            <a:srgbClr val="0D22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63040"/>
            <a:ext cx="73152" cy="7315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1463040"/>
            <a:ext cx="73152" cy="73152"/>
          </a:xfrm>
          <a:prstGeom prst="ellipse">
            <a:avLst/>
          </a:prstGeom>
          <a:solidFill>
            <a:srgbClr val="7EE0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" y="1463040"/>
            <a:ext cx="73152" cy="73152"/>
          </a:xfrm>
          <a:prstGeom prst="ellipse">
            <a:avLst/>
          </a:prstGeom>
          <a:solidFill>
            <a:srgbClr val="3352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1700784"/>
            <a:ext cx="46634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40" i="1" dirty="0">
                <a:solidFill>
                  <a:srgbClr val="7F9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Chờ ô Username hiển thị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o_username = WebDriverWait(driver, 30).until(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EC.visibility_of_element_located(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(AppiumBy.ACCESSIBILITY_ID,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F6C3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"test-Username")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i="1" dirty="0">
                <a:solidFill>
                  <a:srgbClr val="7F9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Nhập tên đăng nhập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o_username.clear()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o_username.send_keys("standard_user")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i="1" dirty="0">
                <a:solidFill>
                  <a:srgbClr val="7F9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Bấm LOGIN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driver.find_element(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AppiumBy.ACCESSIBILITY_ID, "test-LOGIN"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4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.click()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989320" y="140817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399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1389888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sinh lệnh.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find_element biến thành yêu cầu W3C: tìm phần tử theo accessibility id.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2084832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066544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→ Appium server.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Yêu cầu được gửi tới 127.0.0.1:4723, kèm sessionId.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2761488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743200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chọn driver.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đang dùng driver UiAutomator2, nên lệnh được chuyển tiếp tới driver này.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343814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893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3419856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gọi ADB / instrumentation.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UiAutomator2 đọc cây giao diện Android để tìm phần tử có id test-Username.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411480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8932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364224" y="4096512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Thiết bị trả kết quả.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 id (hoặc lỗi) quay ngược về client; WebDriverWait kiểm tra điều kiện hiển thị.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479145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64224" y="4773168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send_keys / click.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chu trình mới được gửi xuống thiết bị để nhập chữ hoặc bấm nút.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4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DEMO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test case Đăng nhập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658368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08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90472"/>
          <a:ext cx="67208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  <a:gridCol w="329184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DỮ LIỆU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KẾT QUẢ MONG ĐỢI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THỰC TẾ</a:t>
                      </a:r>
                      <a:endParaRPr lang="en-US" sz="8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0F27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TC-LOGIN-01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standard_user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secret_sauce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Vào được màn hình PRODUCTS.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67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PASSED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0F27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TC-LOGIN-02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locked_out_user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secret_sauce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Hiện thông báo Sorry, this user has been locked out.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67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PASSED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0F27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TC-LOGIN-03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standard_user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(mật khẩu trống)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4357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Hiện thông báo Password is required.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167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PASSED</a:t>
                      </a:r>
                      <a:endParaRPr lang="en-US" sz="102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21792" y="443484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40" i="1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test mở một session mới; test 1 tự đăng xuất trong finally để trả app về màn Login.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7635240" y="1490472"/>
            <a:ext cx="3931920" cy="3886200"/>
          </a:xfrm>
          <a:prstGeom prst="roundRect">
            <a:avLst>
              <a:gd name="adj" fmla="val 2353"/>
            </a:avLst>
          </a:prstGeom>
          <a:solidFill>
            <a:srgbClr val="F6F9FC"/>
          </a:solidFill>
          <a:ln w="9525">
            <a:solidFill>
              <a:srgbClr val="DDE7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16459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3/3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17739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PASSED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khoảng 46 giây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2331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spc="80" kern="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TOÀN BỘ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818120" y="2523744"/>
            <a:ext cx="3566160" cy="384048"/>
          </a:xfrm>
          <a:prstGeom prst="roundRect">
            <a:avLst>
              <a:gd name="adj" fmla="val 11905"/>
            </a:avLst>
          </a:prstGeom>
          <a:solidFill>
            <a:srgbClr val="0D22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36992" y="2624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D7E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tuan-05/test_login.py -v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3063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spc="80" kern="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LOCATOR DÙNG TRONG DEMO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818120" y="3273552"/>
            <a:ext cx="114300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rgbClr val="CDDD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18120" y="33147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5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test-Username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9034272" y="3273552"/>
            <a:ext cx="114300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rgbClr val="CDDD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34272" y="33147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5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test-Password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10250424" y="3273552"/>
            <a:ext cx="841248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rgbClr val="CDDD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50424" y="331470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5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test-LOGIN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7818120" y="3584448"/>
            <a:ext cx="1170432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rgbClr val="CDDD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18120" y="36255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5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test-PRODUCTS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9061704" y="3584448"/>
            <a:ext cx="137160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rgbClr val="CDDD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61704" y="36255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5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test-Error message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10506456" y="3584448"/>
            <a:ext cx="749808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rgbClr val="CDDD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506456" y="362559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5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test-Menu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7818120" y="3895344"/>
            <a:ext cx="96012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9525">
            <a:solidFill>
              <a:srgbClr val="CDDDE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18120" y="39364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3350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test-LOGOUT</a:t>
            </a:r>
            <a:endParaRPr lang="en-US" sz="820" dirty="0"/>
          </a:p>
        </p:txBody>
      </p:sp>
      <p:sp>
        <p:nvSpPr>
          <p:cNvPr id="31" name="Text 28"/>
          <p:cNvSpPr txBox="1"/>
          <p:nvPr/>
        </p:nvSpPr>
        <p:spPr>
          <a:xfrm>
            <a:off x="7818120" y="4370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20" b="1" spc="80" kern="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ĐÁNG CHÚ Ý</a:t>
            </a:r>
            <a:endParaRPr lang="en-US" sz="82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45902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Khung lỗi là </a:t>
            </a:r>
            <a:pPr indent="0" marL="0">
              <a:lnSpc>
                <a:spcPct val="115000"/>
              </a:lnSpc>
              <a:buNone/>
            </a:pPr>
            <a:r>
              <a:rPr lang="en-US" sz="9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ViewGroup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nên phải lấy </a:t>
            </a:r>
            <a:pPr indent="0" marL="0">
              <a:lnSpc>
                <a:spcPct val="115000"/>
              </a:lnSpc>
              <a:buNone/>
            </a:pPr>
            <a:r>
              <a:rPr lang="en-US" sz="9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TextView con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mới đọc được nội dung.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40" kern="0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KẾT QUẢ &amp; BÀI HỌC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thật, nhìn thật, sửa thật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078992"/>
            <a:ext cx="658368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2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E7C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08</a:t>
            </a:r>
            <a:endParaRPr lang="en-US" sz="850" dirty="0"/>
          </a:p>
        </p:txBody>
      </p:sp>
      <p:pic>
        <p:nvPicPr>
          <p:cNvPr id="8" name="Image 0" descr="C:\Users\Administrator\Downloads\ktpm-class6\tuan-05\anh\01_dang_nhap_dung_vao_manh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1536192" cy="341345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" y="48828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Đăng nhập đúng</a:t>
            </a:r>
            <a:endParaRPr lang="en-US" sz="82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PRODUCTS</a:t>
            </a:r>
            <a:endParaRPr lang="en-US" sz="820" dirty="0"/>
          </a:p>
        </p:txBody>
      </p:sp>
      <p:pic>
        <p:nvPicPr>
          <p:cNvPr id="10" name="Image 1" descr="C:\Users\Administrator\Downloads\ktpm-class6\tuan-05\anh\02_tai_khoan_bi_kho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17320"/>
            <a:ext cx="1536192" cy="341345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76272" y="48828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Tài khoản</a:t>
            </a:r>
            <a:endParaRPr lang="en-US" sz="82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bị khoá</a:t>
            </a:r>
            <a:endParaRPr lang="en-US" sz="820" dirty="0"/>
          </a:p>
        </p:txBody>
      </p:sp>
      <p:pic>
        <p:nvPicPr>
          <p:cNvPr id="12" name="Image 2" descr="C:\Users\Administrator\Downloads\ktpm-class6\tuan-05\anh\03_bo_trong_mat_kha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417320"/>
            <a:ext cx="1536192" cy="341345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67328" y="4882896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Bỏ trống</a:t>
            </a:r>
            <a:endParaRPr lang="en-US" sz="82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7B8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mật khẩu</a:t>
            </a:r>
            <a:endParaRPr lang="en-US" sz="820" dirty="0"/>
          </a:p>
        </p:txBody>
      </p:sp>
      <p:sp>
        <p:nvSpPr>
          <p:cNvPr id="14" name="Text 9"/>
          <p:cNvSpPr txBox="1"/>
          <p:nvPr/>
        </p:nvSpPr>
        <p:spPr>
          <a:xfrm>
            <a:off x="658368" y="5413248"/>
            <a:ext cx="471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A7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Ảnh chụp từ emulator · bộ test tuan-05/test_login.py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760720" y="1417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760720" y="1463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6144768" y="1399032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Accessibility id ổn định hơn </a:t>
            </a:r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XPath dài hay tọa độ, vì gắn với phần tử chứ không gắn với vị trí màn hình.</a:t>
            </a:r>
            <a:endParaRPr lang="en-US" sz="1060" dirty="0"/>
          </a:p>
        </p:txBody>
      </p:sp>
      <p:sp>
        <p:nvSpPr>
          <p:cNvPr id="18" name="Shape 13"/>
          <p:cNvSpPr/>
          <p:nvPr/>
        </p:nvSpPr>
        <p:spPr>
          <a:xfrm>
            <a:off x="5760720" y="22128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760720" y="225856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6144768" y="2194560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WebDriverWait thay time.sleep. </a:t>
            </a:r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Chờ đúng điều kiện: hiển thị, bấm được — test nhanh và ít flaky hơn.</a:t>
            </a:r>
            <a:endParaRPr lang="en-US" sz="1060" dirty="0"/>
          </a:p>
        </p:txBody>
      </p:sp>
      <p:sp>
        <p:nvSpPr>
          <p:cNvPr id="21" name="Shape 16"/>
          <p:cNvSpPr/>
          <p:nvPr/>
        </p:nvSpPr>
        <p:spPr>
          <a:xfrm>
            <a:off x="5760720" y="300837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0720" y="30540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6144768" y="29900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Đọc đúng cây giao diện. </a:t>
            </a:r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test-Error message là ViewGroup; nội dung nằm trong TextView con.</a:t>
            </a:r>
            <a:endParaRPr lang="en-US" sz="1060" dirty="0"/>
          </a:p>
        </p:txBody>
      </p:sp>
      <p:sp>
        <p:nvSpPr>
          <p:cNvPr id="24" name="Shape 19"/>
          <p:cNvSpPr/>
          <p:nvPr/>
        </p:nvSpPr>
        <p:spPr>
          <a:xfrm>
            <a:off x="5760720" y="38039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760720" y="38496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1"/>
          <p:cNvSpPr txBox="1"/>
          <p:nvPr/>
        </p:nvSpPr>
        <p:spPr>
          <a:xfrm>
            <a:off x="6144768" y="3785616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biệt lỗi môi trường và lỗi test. </a:t>
            </a:r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Server, emulator, ADB, APK — kiểm tra trước khi sửa locator.</a:t>
            </a:r>
            <a:endParaRPr lang="en-US" sz="1060" dirty="0"/>
          </a:p>
        </p:txBody>
      </p:sp>
      <p:sp>
        <p:nvSpPr>
          <p:cNvPr id="27" name="Shape 22"/>
          <p:cNvSpPr/>
          <p:nvPr/>
        </p:nvSpPr>
        <p:spPr>
          <a:xfrm>
            <a:off x="5760720" y="45994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27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760720" y="4645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Text 24"/>
          <p:cNvSpPr txBox="1"/>
          <p:nvPr/>
        </p:nvSpPr>
        <p:spPr>
          <a:xfrm>
            <a:off x="6144768" y="4581144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b="1" dirty="0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Dọn trạng thái trước mỗi test. </a:t>
            </a:r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4357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xuất / reset app để bài sau không phụ thuộc bài trước.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828800"/>
            <a:ext cx="5943600" cy="5943600"/>
          </a:xfrm>
          <a:prstGeom prst="ellipse">
            <a:avLst/>
          </a:prstGeom>
          <a:solidFill>
            <a:srgbClr val="0E7C86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303520"/>
            <a:ext cx="3657600" cy="3657600"/>
          </a:xfrm>
          <a:prstGeom prst="ellipse">
            <a:avLst/>
          </a:prstGeom>
          <a:solidFill>
            <a:srgbClr val="F2A93B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40" kern="0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TỔNG KẾT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Hiểu kiến trúc trước, viết test sau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21792" y="1078992"/>
            <a:ext cx="658368" cy="45720"/>
          </a:xfrm>
          <a:prstGeom prst="rect">
            <a:avLst/>
          </a:prstGeom>
          <a:solidFill>
            <a:srgbClr val="F2A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6419088"/>
            <a:ext cx="10945368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2541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6492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Nhóm A1 · KTPM Class 6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561320" y="6492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08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170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9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 điều nhóm A1 mang theo sang tuần 7.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" y="1783080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12304C"/>
          </a:solidFill>
          <a:ln w="9525">
            <a:solidFill>
              <a:srgbClr val="2A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Biết lỗi ở tầng nào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B9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 server → driver → ADB → thiết bị. Mỗi tầng có một kiểu lỗi riêng.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224528" y="1783080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12304C"/>
          </a:solidFill>
          <a:ln w="9525">
            <a:solidFill>
              <a:srgbClr val="2A50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07408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locator ổn định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B9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tiên accessibility id; không phụ thuộc tọa độ hay XPath tuyệt đối.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827264" y="1783080"/>
            <a:ext cx="3456432" cy="1719072"/>
          </a:xfrm>
          <a:prstGeom prst="roundRect">
            <a:avLst>
              <a:gd name="adj" fmla="val 5319"/>
            </a:avLst>
          </a:prstGeom>
          <a:solidFill>
            <a:srgbClr val="12304C"/>
          </a:solidFill>
          <a:ln w="9525">
            <a:solidFill>
              <a:srgbClr val="2A50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10144" y="1947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10144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Chờ đúng điều kiện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10144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20" dirty="0">
                <a:solidFill>
                  <a:srgbClr val="B9C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Dùng WebDriverWait với điều kiện rõ ràng; không dùng sleep mò.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21792" y="3840480"/>
            <a:ext cx="10945368" cy="868680"/>
          </a:xfrm>
          <a:prstGeom prst="roundRect">
            <a:avLst>
              <a:gd name="adj" fmla="val 8421"/>
            </a:avLst>
          </a:prstGeom>
          <a:solidFill>
            <a:srgbClr val="102B45"/>
          </a:solidFill>
          <a:ln w="9525">
            <a:solidFill>
              <a:srgbClr val="1E46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3840480"/>
            <a:ext cx="54864" cy="868680"/>
          </a:xfrm>
          <a:prstGeom prst="rect">
            <a:avLst/>
          </a:prstGeom>
          <a:solidFill>
            <a:srgbClr val="7EE0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3968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spc="100" kern="0" dirty="0">
                <a:solidFill>
                  <a:srgbClr val="7EE0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TUẦN 7 · CHỨC NĂNG 2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41248" y="416966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Sắp xếp sản phẩm trên Swag Labs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BE7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chọn “Price low to high”, kiểm tra sản phẩm đầu tiên là rẻ nhất; thêm trường hợp sai và thí nghiệm không dùng wait.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5074920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Nguồn tham khảo: Appium Documentation (Introduction, UiAutomator2 Driver) · Selenium Documentation (WebDriver, Components) · pytest Documentation (Get started, Assertions) · Martin Fowler – The Practical Test Pyramid.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0469880" y="507492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1B40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KTPM Class 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thử tự động - Nhóm A1</dc:title>
  <dc:subject>Kiểm thử tự động với Appium - Trình bày vòng 1</dc:subject>
  <dc:creator>Nhóm A1 - KTPM Class 6</dc:creator>
  <cp:lastModifiedBy>Nhóm A1 - KTPM Class 6</cp:lastModifiedBy>
  <cp:revision>1</cp:revision>
  <dcterms:created xsi:type="dcterms:W3CDTF">2026-10-23T08:28:04Z</dcterms:created>
  <dcterms:modified xsi:type="dcterms:W3CDTF">2026-10-23T08:28:04Z</dcterms:modified>
</cp:coreProperties>
</file>